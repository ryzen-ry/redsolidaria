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4" r:id="rId2"/>
    <p:sldId id="269" r:id="rId3"/>
    <p:sldId id="282" r:id="rId4"/>
    <p:sldId id="274" r:id="rId5"/>
    <p:sldId id="257" r:id="rId6"/>
    <p:sldId id="302" r:id="rId7"/>
    <p:sldId id="300" r:id="rId8"/>
    <p:sldId id="301" r:id="rId9"/>
    <p:sldId id="303" r:id="rId10"/>
    <p:sldId id="289" r:id="rId11"/>
    <p:sldId id="297" r:id="rId12"/>
    <p:sldId id="298" r:id="rId13"/>
    <p:sldId id="296" r:id="rId14"/>
    <p:sldId id="299" r:id="rId15"/>
    <p:sldId id="292" r:id="rId16"/>
    <p:sldId id="294" r:id="rId17"/>
    <p:sldId id="295" r:id="rId18"/>
    <p:sldId id="291" r:id="rId19"/>
    <p:sldId id="293" r:id="rId20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C4289B-2FE6-0A4E-66EE-D1DA0CBDE0A7}" v="7" dt="2026-05-12T00:30:09.651"/>
    <p1510:client id="{8D6F5198-9AD9-1942-1E9B-6D339C3645DF}" v="164" dt="2026-05-12T19:01:10.740"/>
    <p1510:client id="{2EB4B9F0-5C3D-00FA-BB0A-AB16BD32882A}" v="542" dt="2026-05-12T05:56:53.759"/>
    <p1510:client id="{7AB175C2-21B1-0D3F-BA42-B30116FDF046}" v="12" dt="2026-05-12T03:25:17.218"/>
    <p1510:client id="{28484225-5F11-FA49-F526-E724067A24F2}" v="109" dt="2026-05-11T22:37:55.353"/>
    <p1510:client id="{7AE33F3D-9AF2-0CC0-5467-D7F30F4159E5}" v="1" dt="2026-05-11T22:01:25.598"/>
    <p1510:client id="{5F6E1920-2973-FEA0-EC88-5C59F8D5DE20}" v="110" dt="2026-05-12T19:42:42.853"/>
    <p1510:client id="{F52C4FD1-4D4A-5C45-C531-A5832E230DCC}" v="124" dt="2026-05-12T07:18:38.390"/>
    <p1510:client id="{32020802-21D4-6D22-6BA5-C1591EDCCA01}" v="17" dt="2026-05-11T02:26:19.991"/>
    <p1510:client id="{8788E52C-27DB-CC09-7700-6EA459A5158C}" v="224" dt="2026-05-12T10:36:49.911"/>
    <p1510:client id="{90F72D31-3C58-8DEE-8A68-76CD81FCAC04}" v="556" dt="2026-05-12T07:03:19.498"/>
    <p1510:client id="{FF4FB561-5355-DAE3-986D-FA260B975626}" v="5" dt="2026-05-12T19:01:48.292"/>
    <p1510:client id="{910A9AEC-9D0E-029C-06EF-82F4DB003568}" v="26" dt="2026-05-12T06:45:55.591"/>
    <p1510:client id="{912CB9CD-097E-C20E-0DD6-53B48132A74C}" v="14" dt="2026-05-12T19:43:19.715"/>
    <p1510:client id="{D87A1962-B454-AC2F-E358-926FAAFA0660}" v="283" dt="2026-05-12T18:36:19.618"/>
    <p1510:client id="{ED8AB55C-8927-9CF1-4C36-C02E53BF74E8}" v="411" dt="2026-05-12T07:12:09.8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027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287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9098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202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5245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2880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756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7799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679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150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1996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11947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7547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3542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54700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47444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3682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634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orcid.org/0000-0002-0956-0130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redsolidaria-production.up.railway.app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D985DB-5C20-53AF-A9A6-BA561323479A}"/>
              </a:ext>
            </a:extLst>
          </p:cNvPr>
          <p:cNvSpPr txBox="1"/>
          <p:nvPr/>
        </p:nvSpPr>
        <p:spPr>
          <a:xfrm>
            <a:off x="2802194" y="1315065"/>
            <a:ext cx="6771967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latin typeface="Times New Roman"/>
                <a:ea typeface="Times New Roman"/>
                <a:cs typeface="Times New Roman"/>
              </a:rPr>
              <a:t>Sistema de </a:t>
            </a:r>
            <a:r>
              <a:rPr lang="en-US" sz="2000" b="1" err="1">
                <a:latin typeface="Times New Roman"/>
                <a:ea typeface="Times New Roman"/>
                <a:cs typeface="Times New Roman"/>
              </a:rPr>
              <a:t>alerta</a:t>
            </a:r>
            <a:r>
              <a:rPr lang="en-US" sz="2000" b="1">
                <a:latin typeface="Times New Roman"/>
                <a:ea typeface="Times New Roman"/>
                <a:cs typeface="Times New Roman"/>
              </a:rPr>
              <a:t> de </a:t>
            </a:r>
            <a:r>
              <a:rPr lang="en-US" sz="2000" b="1" err="1">
                <a:latin typeface="Times New Roman"/>
                <a:ea typeface="Times New Roman"/>
                <a:cs typeface="Times New Roman"/>
              </a:rPr>
              <a:t>ayuda</a:t>
            </a:r>
            <a:r>
              <a:rPr lang="en-US" sz="2000" b="1"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000" b="1" err="1">
                <a:latin typeface="Times New Roman"/>
                <a:ea typeface="Times New Roman"/>
                <a:cs typeface="Times New Roman"/>
              </a:rPr>
              <a:t>mediante</a:t>
            </a:r>
            <a:r>
              <a:rPr lang="en-US" sz="2000" b="1">
                <a:latin typeface="Times New Roman"/>
                <a:ea typeface="Times New Roman"/>
                <a:cs typeface="Times New Roman"/>
              </a:rPr>
              <a:t> web y app </a:t>
            </a:r>
            <a:r>
              <a:rPr lang="en-US" sz="2000" b="1" err="1">
                <a:latin typeface="Times New Roman"/>
                <a:ea typeface="Times New Roman"/>
                <a:cs typeface="Times New Roman"/>
              </a:rPr>
              <a:t>movil</a:t>
            </a:r>
            <a:r>
              <a:rPr lang="en-US" sz="2000" b="1">
                <a:latin typeface="Times New Roman"/>
                <a:ea typeface="Times New Roman"/>
                <a:cs typeface="Times New Roman"/>
              </a:rPr>
              <a:t> para </a:t>
            </a:r>
            <a:r>
              <a:rPr lang="en-US" sz="2000" b="1" err="1">
                <a:latin typeface="Times New Roman"/>
                <a:ea typeface="Times New Roman"/>
                <a:cs typeface="Times New Roman"/>
              </a:rPr>
              <a:t>fomentar</a:t>
            </a:r>
            <a:r>
              <a:rPr lang="en-US" sz="2000" b="1"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000" b="1" err="1">
                <a:latin typeface="Times New Roman"/>
                <a:ea typeface="Times New Roman"/>
                <a:cs typeface="Times New Roman"/>
              </a:rPr>
              <a:t>el</a:t>
            </a:r>
            <a:r>
              <a:rPr lang="en-US" sz="2000" b="1"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000" b="1" err="1">
                <a:latin typeface="Times New Roman"/>
                <a:ea typeface="Times New Roman"/>
                <a:cs typeface="Times New Roman"/>
              </a:rPr>
              <a:t>voluntariado</a:t>
            </a:r>
            <a:r>
              <a:rPr lang="en-US" sz="2000" b="1"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000" b="1" err="1">
                <a:latin typeface="Times New Roman"/>
                <a:ea typeface="Times New Roman"/>
                <a:cs typeface="Times New Roman"/>
              </a:rPr>
              <a:t>universitario</a:t>
            </a:r>
            <a:r>
              <a:rPr lang="en-US" sz="2000" b="1">
                <a:latin typeface="Times New Roman"/>
                <a:ea typeface="Times New Roman"/>
                <a:cs typeface="Times New Roman"/>
              </a:rPr>
              <a:t> UTP </a:t>
            </a:r>
            <a:r>
              <a:rPr lang="en-US" sz="2000" b="1" err="1">
                <a:latin typeface="Times New Roman"/>
                <a:ea typeface="Times New Roman"/>
                <a:cs typeface="Times New Roman"/>
              </a:rPr>
              <a:t>en</a:t>
            </a:r>
            <a:r>
              <a:rPr lang="en-US" sz="2000" b="1"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000" b="1" err="1">
                <a:latin typeface="Times New Roman"/>
                <a:ea typeface="Times New Roman"/>
                <a:cs typeface="Times New Roman"/>
              </a:rPr>
              <a:t>apoyo</a:t>
            </a:r>
            <a:r>
              <a:rPr lang="en-US" sz="2000" b="1">
                <a:latin typeface="Times New Roman"/>
                <a:ea typeface="Times New Roman"/>
                <a:cs typeface="Times New Roman"/>
              </a:rPr>
              <a:t> a personas con </a:t>
            </a:r>
            <a:r>
              <a:rPr lang="en-US" sz="2000" b="1" err="1">
                <a:latin typeface="Times New Roman"/>
                <a:ea typeface="Times New Roman"/>
                <a:cs typeface="Times New Roman"/>
              </a:rPr>
              <a:t>discapacidad</a:t>
            </a:r>
            <a:r>
              <a:rPr lang="en-US" sz="2000" b="1">
                <a:latin typeface="Times New Roman"/>
                <a:ea typeface="Times New Roman"/>
                <a:cs typeface="Times New Roman"/>
              </a:rPr>
              <a:t> del </a:t>
            </a:r>
            <a:r>
              <a:rPr lang="en-US" sz="2000" b="1" err="1">
                <a:latin typeface="Times New Roman"/>
                <a:ea typeface="Times New Roman"/>
                <a:cs typeface="Times New Roman"/>
              </a:rPr>
              <a:t>habla</a:t>
            </a:r>
            <a:r>
              <a:rPr lang="en-US" sz="2000" b="1">
                <a:latin typeface="Times New Roman"/>
                <a:ea typeface="Times New Roman"/>
                <a:cs typeface="Times New Roman"/>
              </a:rPr>
              <a:t>, </a:t>
            </a:r>
            <a:r>
              <a:rPr lang="en-US" sz="2000" b="1" err="1">
                <a:latin typeface="Times New Roman"/>
                <a:ea typeface="Times New Roman"/>
                <a:cs typeface="Times New Roman"/>
              </a:rPr>
              <a:t>auditiva</a:t>
            </a:r>
            <a:r>
              <a:rPr lang="en-US" sz="2000" b="1">
                <a:latin typeface="Times New Roman"/>
                <a:ea typeface="Times New Roman"/>
                <a:cs typeface="Times New Roman"/>
              </a:rPr>
              <a:t> y </a:t>
            </a:r>
            <a:r>
              <a:rPr lang="en-US" sz="2000" b="1" err="1">
                <a:latin typeface="Times New Roman"/>
                <a:ea typeface="Times New Roman"/>
                <a:cs typeface="Times New Roman"/>
              </a:rPr>
              <a:t>motriz</a:t>
            </a:r>
            <a:r>
              <a:rPr lang="en-US" sz="2000" b="1"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000" b="1" err="1">
                <a:latin typeface="Times New Roman"/>
                <a:ea typeface="Times New Roman"/>
                <a:cs typeface="Times New Roman"/>
              </a:rPr>
              <a:t>en</a:t>
            </a:r>
            <a:r>
              <a:rPr lang="en-US" sz="2000" b="1">
                <a:latin typeface="Times New Roman"/>
                <a:ea typeface="Times New Roman"/>
                <a:cs typeface="Times New Roman"/>
              </a:rPr>
              <a:t> SJL, 2026</a:t>
            </a:r>
          </a:p>
        </p:txBody>
      </p:sp>
      <p:pic>
        <p:nvPicPr>
          <p:cNvPr id="3" name="Picture 2" descr="A red and black square with a white letter&#10;&#10;AI-generated content may be incorrect.">
            <a:extLst>
              <a:ext uri="{FF2B5EF4-FFF2-40B4-BE49-F238E27FC236}">
                <a16:creationId xmlns:a16="http://schemas.microsoft.com/office/drawing/2014/main" id="{882A57E5-E0EE-638B-9006-159D55A1E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511" y="764458"/>
            <a:ext cx="3095625" cy="609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E6B0D7B-60EA-2844-0337-422CDB21D759}"/>
              </a:ext>
            </a:extLst>
          </p:cNvPr>
          <p:cNvSpPr txBox="1"/>
          <p:nvPr/>
        </p:nvSpPr>
        <p:spPr>
          <a:xfrm>
            <a:off x="3048000" y="4215581"/>
            <a:ext cx="6096000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err="1">
                <a:latin typeface="Times New Roman"/>
                <a:ea typeface="Times New Roman"/>
                <a:cs typeface="Times New Roman"/>
              </a:rPr>
              <a:t>Integrantes</a:t>
            </a:r>
            <a:r>
              <a:rPr lang="en-US" b="1">
                <a:latin typeface="Times New Roman"/>
                <a:ea typeface="Times New Roman"/>
                <a:cs typeface="Times New Roman"/>
              </a:rPr>
              <a:t>:</a:t>
            </a:r>
          </a:p>
          <a:p>
            <a:pPr algn="ctr"/>
            <a:r>
              <a:rPr lang="en-US" sz="1400">
                <a:latin typeface="Times New Roman"/>
                <a:ea typeface="Times New Roman"/>
                <a:cs typeface="Times New Roman"/>
              </a:rPr>
              <a:t>Antiquera Farfan Ronaldo Isacc - U22208906</a:t>
            </a:r>
          </a:p>
          <a:p>
            <a:pPr algn="ctr"/>
            <a:r>
              <a:rPr lang="en-US" sz="1400">
                <a:latin typeface="Times New Roman"/>
                <a:ea typeface="Times New Roman"/>
                <a:cs typeface="Times New Roman"/>
              </a:rPr>
              <a:t>Torres Lujan Ricardo Esteban - U23272932</a:t>
            </a:r>
          </a:p>
          <a:p>
            <a:pPr algn="ctr"/>
            <a:r>
              <a:rPr lang="en-US" sz="1400">
                <a:latin typeface="Times New Roman"/>
                <a:ea typeface="Times New Roman"/>
                <a:cs typeface="Times New Roman"/>
              </a:rPr>
              <a:t> Gomez Benigno Alexander Piero - U22324616</a:t>
            </a:r>
          </a:p>
          <a:p>
            <a:pPr algn="ctr"/>
            <a:r>
              <a:rPr lang="en-US" sz="1400" err="1">
                <a:latin typeface="Times New Roman"/>
                <a:ea typeface="Times New Roman"/>
                <a:cs typeface="Times New Roman"/>
              </a:rPr>
              <a:t>Condorpusa</a:t>
            </a:r>
            <a:r>
              <a:rPr lang="en-US" sz="1400">
                <a:latin typeface="Times New Roman"/>
                <a:ea typeface="Times New Roman"/>
                <a:cs typeface="Times New Roman"/>
              </a:rPr>
              <a:t> Fiestas Adriana Lucía - U23266088</a:t>
            </a:r>
          </a:p>
          <a:p>
            <a:pPr algn="ctr"/>
            <a:r>
              <a:rPr lang="en-US" sz="1400">
                <a:latin typeface="Times New Roman"/>
                <a:ea typeface="Times New Roman"/>
                <a:cs typeface="Times New Roman"/>
              </a:rPr>
              <a:t>Quilla Flores Edwin Moises – U23101452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D98350-ECD9-07BE-10AC-265F2E7FC386}"/>
              </a:ext>
            </a:extLst>
          </p:cNvPr>
          <p:cNvSpPr txBox="1"/>
          <p:nvPr/>
        </p:nvSpPr>
        <p:spPr>
          <a:xfrm>
            <a:off x="3048000" y="2765322"/>
            <a:ext cx="6096000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err="1">
                <a:latin typeface="Times New Roman"/>
                <a:ea typeface="Times New Roman"/>
                <a:cs typeface="Times New Roman"/>
              </a:rPr>
              <a:t>Docente</a:t>
            </a:r>
            <a:r>
              <a:rPr lang="en-US" b="1">
                <a:latin typeface="Times New Roman"/>
                <a:ea typeface="Times New Roman"/>
                <a:cs typeface="Times New Roman"/>
              </a:rPr>
              <a:t>:</a:t>
            </a:r>
          </a:p>
          <a:p>
            <a:endParaRPr lang="en-US" sz="2000"/>
          </a:p>
          <a:p>
            <a:pPr algn="ctr"/>
            <a:r>
              <a:rPr lang="en-US" sz="1400">
                <a:latin typeface="Times New Roman"/>
                <a:ea typeface="Times New Roman"/>
                <a:cs typeface="Times New Roman"/>
              </a:rPr>
              <a:t>Ing. Effio Gonzales Carlos Alberto</a:t>
            </a:r>
          </a:p>
          <a:p>
            <a:pPr algn="ctr"/>
            <a:r>
              <a:rPr lang="en-US" sz="1400">
                <a:latin typeface="Times New Roman"/>
                <a:ea typeface="Times New Roman"/>
                <a:cs typeface="Times New Roman"/>
                <a:hlinkClick r:id="rId3"/>
              </a:rPr>
              <a:t>https://orcid.org/0000-0002-0956-0130</a:t>
            </a:r>
          </a:p>
          <a:p>
            <a:pPr algn="ctr"/>
            <a:endParaRPr lang="en-US" sz="1400">
              <a:latin typeface="Times New Roman"/>
              <a:ea typeface="Times New Roman"/>
              <a:cs typeface="Times New Roman"/>
            </a:endParaRPr>
          </a:p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601835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F6D81C7-B083-478E-82FE-089A8CB72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398EDA2-4889-433D-AC01-5214D79764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099D46A-AF52-46FD-938B-D31189460A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933E919-C473-4F0E-9DBC-CC65FC9E9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BBF3BDD-5C99-4FDC-BBCB-E711359D93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06B54F2-CD11-4359-A7D6-DA7C76C09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E61F402-3445-458A-9A2B-D28FD2883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673C096-95AE-4644-B76C-1DF1B667D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77A91835-418B-4867-87D7-1376A57F3F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5B511A1-E0EC-49FE-8068-9DA29CD00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4A61BC5F-ADA4-4DBA-9C6B-E17E0B82EC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1CE6F7D2-ACED-47D2-BEFD-FB26F7537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3B6A3D3-272C-BADF-4FC5-4DC8FA5A7546}"/>
              </a:ext>
            </a:extLst>
          </p:cNvPr>
          <p:cNvSpPr txBox="1"/>
          <p:nvPr/>
        </p:nvSpPr>
        <p:spPr>
          <a:xfrm>
            <a:off x="1295402" y="982132"/>
            <a:ext cx="3660056" cy="132537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algn="ctr" defTabSz="457200">
              <a:spcBef>
                <a:spcPct val="0"/>
              </a:spcBef>
              <a:spcAft>
                <a:spcPts val="600"/>
              </a:spcAft>
            </a:pPr>
            <a:r>
              <a:rPr lang="en-US" sz="2800">
                <a:ln w="3175" cmpd="sng">
                  <a:noFill/>
                </a:ln>
                <a:solidFill>
                  <a:srgbClr val="262626"/>
                </a:solidFill>
                <a:latin typeface="+mj-lt"/>
                <a:ea typeface="+mj-ea"/>
                <a:cs typeface="+mj-cs"/>
              </a:rPr>
              <a:t>Introducción 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BE880E9-2B86-4CDB-B5B7-308745CDD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95401" y="2400639"/>
            <a:ext cx="36600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9EDD7AA-908D-4237-0DE7-9928D73265FA}"/>
              </a:ext>
            </a:extLst>
          </p:cNvPr>
          <p:cNvSpPr txBox="1"/>
          <p:nvPr/>
        </p:nvSpPr>
        <p:spPr>
          <a:xfrm>
            <a:off x="1295401" y="2493774"/>
            <a:ext cx="3660057" cy="338209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algn="ctr" defTabSz="4572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en-US" sz="1600">
                <a:solidFill>
                  <a:srgbClr val="262626"/>
                </a:solidFill>
              </a:rPr>
              <a:t>En la actualidad, las personas con discapacidad en distritos con alta densidad poblacional como San Juan de Lurigancho enfrentan barreras significativas de movilidad y comunicación que limitan su integración social. Ante esta problemática, surge el presente proyecto, el cual consiste en el desarrollo de una página web y una aplicación móvil diseñadas como herramientas tecnológicas de soporte inclusivo.</a:t>
            </a:r>
          </a:p>
          <a:p>
            <a:pPr algn="ctr" defTabSz="4572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endParaRPr lang="en-US" sz="1600">
              <a:solidFill>
                <a:srgbClr val="262626"/>
              </a:solidFill>
            </a:endParaRPr>
          </a:p>
        </p:txBody>
      </p:sp>
      <p:pic>
        <p:nvPicPr>
          <p:cNvPr id="2" name="Imagen 1" descr="InSuit y la accesibilidad web para personas con discapacidad motora">
            <a:extLst>
              <a:ext uri="{FF2B5EF4-FFF2-40B4-BE49-F238E27FC236}">
                <a16:creationId xmlns:a16="http://schemas.microsoft.com/office/drawing/2014/main" id="{3C67D3F3-F5C5-7D4F-ECC7-763CF39747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8668" y="1603564"/>
            <a:ext cx="5469466" cy="3650868"/>
          </a:xfrm>
          <a:prstGeom prst="rect">
            <a:avLst/>
          </a:prstGeom>
          <a:ln w="57150" cmpd="thickThin">
            <a:solidFill>
              <a:srgbClr val="7F7F7F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1614455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42E97C-CFA7-A32D-D390-578CA0CA8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DFB5D1BB-0703-437B-BD1E-1D07F8A27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886586B-3F0F-4593-B272-AE75AD0F0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20DEB59-BF94-41B5-8F16-8B10442EE0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9A3BEF6F-FC03-43B1-8D1B-8DA3A360D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0F49BA32-A501-4C79-9A72-92587AB9EE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83F92AF-2403-4558-B1D7-72130A1E4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2AC0F86-9A78-4E84-A4B4-ADB8B2629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F78B9E-8BE2-4706-9377-A05FA25AB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2CDFDE2-4DB3-4623-BA21-187D1B710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D74B2AA-1443-4E9B-8462-F7F5B8525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9BB652B6-7300-49EC-9422-EF5342492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D0909587-01DE-424D-A15F-DAA28CF2C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9" name="TextBox 5">
            <a:extLst>
              <a:ext uri="{FF2B5EF4-FFF2-40B4-BE49-F238E27FC236}">
                <a16:creationId xmlns:a16="http://schemas.microsoft.com/office/drawing/2014/main" id="{8A8AA507-E768-7BA8-89A1-ADF8ECCB717B}"/>
              </a:ext>
            </a:extLst>
          </p:cNvPr>
          <p:cNvSpPr txBox="1"/>
          <p:nvPr/>
        </p:nvSpPr>
        <p:spPr>
          <a:xfrm>
            <a:off x="7535825" y="982132"/>
            <a:ext cx="3360772" cy="1303867"/>
          </a:xfrm>
          <a:prstGeom prst="rect">
            <a:avLst/>
          </a:prstGeom>
        </p:spPr>
        <p:txBody>
          <a:bodyPr rot="0" spcFirstLastPara="0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10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Definición del problema</a:t>
            </a:r>
          </a:p>
          <a:p>
            <a:pPr algn="ctr" defTabSz="4572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100">
              <a:ln w="3175" cmpd="sng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9A54E25-1C05-48E5-A5CC-3778C1D363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3" y="1092200"/>
            <a:ext cx="5942687" cy="451510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n 1" descr="Celebran hoy Día de la Discapacidad Auditiva en Miraflores con acto masivo  de atención | Noticias | Agencia Peruana de Noticias Andina">
            <a:extLst>
              <a:ext uri="{FF2B5EF4-FFF2-40B4-BE49-F238E27FC236}">
                <a16:creationId xmlns:a16="http://schemas.microsoft.com/office/drawing/2014/main" id="{FFA20BDC-A066-921C-8BF2-22C5954B3C2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133"/>
          <a:stretch>
            <a:fillRect/>
          </a:stretch>
        </p:blipFill>
        <p:spPr>
          <a:xfrm>
            <a:off x="1412683" y="1410208"/>
            <a:ext cx="5278777" cy="385878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E5D0023-B23E-4823-8D72-B07FFF8CA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20089" y="2400639"/>
            <a:ext cx="337650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4">
            <a:extLst>
              <a:ext uri="{FF2B5EF4-FFF2-40B4-BE49-F238E27FC236}">
                <a16:creationId xmlns:a16="http://schemas.microsoft.com/office/drawing/2014/main" id="{7B7900A0-16AA-C6B8-B39B-D411189D2CE3}"/>
              </a:ext>
            </a:extLst>
          </p:cNvPr>
          <p:cNvSpPr txBox="1"/>
          <p:nvPr/>
        </p:nvSpPr>
        <p:spPr>
          <a:xfrm>
            <a:off x="7535824" y="2556932"/>
            <a:ext cx="3360771" cy="3318936"/>
          </a:xfrm>
          <a:prstGeom prst="rect">
            <a:avLst/>
          </a:prstGeom>
        </p:spPr>
        <p:txBody>
          <a:bodyPr rot="0" spcFirstLastPara="0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Actualmente la cantidad de discapacitados en el Perú va en aumento y no existe un sistema web o aplicación móvil que conecte de manera eficiente a personas con discapacidad con voluntarios (Universitarios) confiables y capacitados que ayude en sus necesidades que puedan tener en todo el territorio de San Juan de Lurigancho.</a:t>
            </a:r>
          </a:p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2689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A86AFE29-CBB5-B909-D610-B2DE253EDD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612" r="228" b="170"/>
          <a:stretch>
            <a:fillRect/>
          </a:stretch>
        </p:blipFill>
        <p:spPr>
          <a:xfrm>
            <a:off x="1249840" y="1033691"/>
            <a:ext cx="4468488" cy="5084506"/>
          </a:xfrm>
          <a:prstGeom prst="rect">
            <a:avLst/>
          </a:prstGeom>
        </p:spPr>
      </p:pic>
      <p:sp>
        <p:nvSpPr>
          <p:cNvPr id="5" name="TextBox 1">
            <a:extLst>
              <a:ext uri="{FF2B5EF4-FFF2-40B4-BE49-F238E27FC236}">
                <a16:creationId xmlns:a16="http://schemas.microsoft.com/office/drawing/2014/main" id="{F89BA09B-969B-5919-3FF9-21CF8135A739}"/>
              </a:ext>
            </a:extLst>
          </p:cNvPr>
          <p:cNvSpPr txBox="1"/>
          <p:nvPr/>
        </p:nvSpPr>
        <p:spPr>
          <a:xfrm>
            <a:off x="891701" y="778212"/>
            <a:ext cx="447472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/>
              <a:t>Estado de Arte</a:t>
            </a:r>
            <a:endParaRPr lang="es-ES"/>
          </a:p>
        </p:txBody>
      </p:sp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C2728842-6F40-2284-AFCD-2A9866AE5E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579" b="45866"/>
          <a:stretch/>
        </p:blipFill>
        <p:spPr>
          <a:xfrm>
            <a:off x="6641871" y="1033692"/>
            <a:ext cx="3951102" cy="1301546"/>
          </a:xfrm>
          <a:prstGeom prst="rect">
            <a:avLst/>
          </a:prstGeom>
        </p:spPr>
      </p:pic>
      <p:sp>
        <p:nvSpPr>
          <p:cNvPr id="8" name="TextBox 1">
            <a:extLst>
              <a:ext uri="{FF2B5EF4-FFF2-40B4-BE49-F238E27FC236}">
                <a16:creationId xmlns:a16="http://schemas.microsoft.com/office/drawing/2014/main" id="{8EE834CD-4A3A-10AE-DB67-85F9D85B407E}"/>
              </a:ext>
            </a:extLst>
          </p:cNvPr>
          <p:cNvSpPr txBox="1"/>
          <p:nvPr/>
        </p:nvSpPr>
        <p:spPr>
          <a:xfrm>
            <a:off x="6289966" y="622139"/>
            <a:ext cx="447472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err="1"/>
              <a:t>Entorno</a:t>
            </a:r>
            <a:endParaRPr lang="es-ES" err="1"/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43F02EC5-9F24-D3AC-B837-745C59B3133D}"/>
              </a:ext>
            </a:extLst>
          </p:cNvPr>
          <p:cNvSpPr txBox="1"/>
          <p:nvPr/>
        </p:nvSpPr>
        <p:spPr>
          <a:xfrm>
            <a:off x="6289966" y="3312091"/>
            <a:ext cx="447472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/>
              <a:t>Base de Datos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9676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26C2360-DD0A-4AA5-A6DC-8258F110577C}"/>
              </a:ext>
            </a:extLst>
          </p:cNvPr>
          <p:cNvSpPr/>
          <p:nvPr/>
        </p:nvSpPr>
        <p:spPr>
          <a:xfrm>
            <a:off x="-343532" y="0"/>
            <a:ext cx="12535532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ES" sz="2800" dirty="0">
                <a:ln w="0"/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Diagrama </a:t>
            </a:r>
            <a:r>
              <a:rPr lang="es-ES" sz="2800" dirty="0" err="1">
                <a:ln w="0"/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BPMN</a:t>
            </a:r>
            <a:r>
              <a:rPr lang="es-ES" sz="2800" dirty="0">
                <a:ln w="0"/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 – Registro Usuarios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BC1D8B7-17CA-4D56-B23A-3A950C5DAD6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14" b="4005"/>
          <a:stretch/>
        </p:blipFill>
        <p:spPr>
          <a:xfrm>
            <a:off x="-171766" y="672469"/>
            <a:ext cx="12381034" cy="565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501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26C2360-DD0A-4AA5-A6DC-8258F110577C}"/>
              </a:ext>
            </a:extLst>
          </p:cNvPr>
          <p:cNvSpPr/>
          <p:nvPr/>
        </p:nvSpPr>
        <p:spPr>
          <a:xfrm>
            <a:off x="-343532" y="0"/>
            <a:ext cx="12535532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ES" sz="2800" dirty="0">
                <a:ln w="0"/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Diagrama </a:t>
            </a:r>
            <a:r>
              <a:rPr lang="es-ES" sz="2800" dirty="0" err="1">
                <a:ln w="0"/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BPMN</a:t>
            </a:r>
            <a:r>
              <a:rPr lang="es-ES" sz="2800" dirty="0">
                <a:ln w="0"/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 – </a:t>
            </a:r>
            <a:r>
              <a:rPr lang="es-ES" sz="2800" dirty="0" err="1">
                <a:ln w="0"/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Activacion</a:t>
            </a:r>
            <a:r>
              <a:rPr lang="es-ES" sz="2800" dirty="0">
                <a:ln w="0"/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 de  Usuarios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5DB953D-9A8F-4AF1-ADC0-5A65DDEADB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3220"/>
            <a:ext cx="12192000" cy="604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844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26C2360-DD0A-4AA5-A6DC-8258F110577C}"/>
              </a:ext>
            </a:extLst>
          </p:cNvPr>
          <p:cNvSpPr/>
          <p:nvPr/>
        </p:nvSpPr>
        <p:spPr>
          <a:xfrm>
            <a:off x="-186840" y="0"/>
            <a:ext cx="12535532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ES" sz="2800" dirty="0">
                <a:ln w="0"/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Diagrama </a:t>
            </a:r>
            <a:r>
              <a:rPr lang="es-ES" sz="2800" dirty="0" err="1">
                <a:ln w="0"/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BPMN</a:t>
            </a:r>
            <a:r>
              <a:rPr lang="es-ES" sz="2800" dirty="0">
                <a:ln w="0"/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 – donaciones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B94CB4B-CD21-4C22-AEE6-B74755CE46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413" y="881383"/>
            <a:ext cx="10917174" cy="3801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900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26C2360-DD0A-4AA5-A6DC-8258F110577C}"/>
              </a:ext>
            </a:extLst>
          </p:cNvPr>
          <p:cNvSpPr/>
          <p:nvPr/>
        </p:nvSpPr>
        <p:spPr>
          <a:xfrm>
            <a:off x="-171766" y="0"/>
            <a:ext cx="12535532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ES" sz="2800" dirty="0">
                <a:ln w="0"/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Diagrama </a:t>
            </a:r>
            <a:r>
              <a:rPr lang="es-ES" sz="2800" dirty="0" err="1">
                <a:ln w="0"/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BPMN</a:t>
            </a:r>
            <a:r>
              <a:rPr lang="es-ES" sz="2800" dirty="0">
                <a:ln w="0"/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 – verificación de donaciones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F6FBBBB-B42F-4BFC-B5CF-F9E5596D9F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911" y="588684"/>
            <a:ext cx="10706205" cy="6269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441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26C2360-DD0A-4AA5-A6DC-8258F110577C}"/>
              </a:ext>
            </a:extLst>
          </p:cNvPr>
          <p:cNvSpPr/>
          <p:nvPr/>
        </p:nvSpPr>
        <p:spPr>
          <a:xfrm>
            <a:off x="-171766" y="0"/>
            <a:ext cx="12535532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ES" sz="2800" dirty="0">
                <a:ln w="0"/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Diagrama </a:t>
            </a:r>
            <a:r>
              <a:rPr lang="es-ES" sz="2800" dirty="0" err="1">
                <a:ln w="0"/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BPMN</a:t>
            </a:r>
            <a:r>
              <a:rPr lang="es-ES" sz="2800" dirty="0">
                <a:ln w="0"/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 – botón de Ayuda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EB871C2-D467-480C-BC7B-0960C1BA4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985" y="680167"/>
            <a:ext cx="10672440" cy="561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521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95D0E-2018-A9D2-061E-615C32FA6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12E64E4C-E7E7-694E-584A-1B44E2905FED}"/>
              </a:ext>
            </a:extLst>
          </p:cNvPr>
          <p:cNvSpPr/>
          <p:nvPr/>
        </p:nvSpPr>
        <p:spPr>
          <a:xfrm>
            <a:off x="437" y="0"/>
            <a:ext cx="9148657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ES" sz="5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Diagrama Caso de Uso</a:t>
            </a:r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4CACDD2-5E39-4220-B17B-C99638A90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914" y="923330"/>
            <a:ext cx="8738381" cy="5609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852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95D0E-2018-A9D2-061E-615C32FA6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12E64E4C-E7E7-694E-584A-1B44E2905FED}"/>
              </a:ext>
            </a:extLst>
          </p:cNvPr>
          <p:cNvSpPr/>
          <p:nvPr/>
        </p:nvSpPr>
        <p:spPr>
          <a:xfrm>
            <a:off x="437" y="0"/>
            <a:ext cx="9148657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ES" sz="5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Diagrama Caso de Uso</a:t>
            </a:r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E8A809D-2185-454D-8FAE-2A987A2D3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055" y="723894"/>
            <a:ext cx="8842923" cy="540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054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95D0E-2018-A9D2-061E-615C32FA6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12E64E4C-E7E7-694E-584A-1B44E2905FED}"/>
              </a:ext>
            </a:extLst>
          </p:cNvPr>
          <p:cNvSpPr/>
          <p:nvPr/>
        </p:nvSpPr>
        <p:spPr>
          <a:xfrm>
            <a:off x="437" y="0"/>
            <a:ext cx="9148657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ES" sz="5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Diagrama Caso de Uso</a:t>
            </a:r>
            <a:endParaRPr lang="es-ES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26406C0-9E9A-4DEE-9627-7E0CCA845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574" y="1047417"/>
            <a:ext cx="6820852" cy="476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532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95D0E-2018-A9D2-061E-615C32FA6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12E64E4C-E7E7-694E-584A-1B44E2905FED}"/>
              </a:ext>
            </a:extLst>
          </p:cNvPr>
          <p:cNvSpPr/>
          <p:nvPr/>
        </p:nvSpPr>
        <p:spPr>
          <a:xfrm>
            <a:off x="437" y="0"/>
            <a:ext cx="9148657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ES" sz="5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Diagrama Caso de Uso</a:t>
            </a:r>
            <a:endParaRPr lang="es-ES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CE0395C-02C6-4762-A9B6-FFF5984CC7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90" t="7020" r="8594" b="4912"/>
          <a:stretch/>
        </p:blipFill>
        <p:spPr>
          <a:xfrm>
            <a:off x="984738" y="766490"/>
            <a:ext cx="8975188" cy="5325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643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95D0E-2018-A9D2-061E-615C32FA6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12E64E4C-E7E7-694E-584A-1B44E2905FED}"/>
              </a:ext>
            </a:extLst>
          </p:cNvPr>
          <p:cNvSpPr/>
          <p:nvPr/>
        </p:nvSpPr>
        <p:spPr>
          <a:xfrm>
            <a:off x="437" y="0"/>
            <a:ext cx="9148657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ES" sz="5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Diagrama Caso de Uso</a:t>
            </a:r>
            <a:endParaRPr lang="es-ES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F13E09C-2FDC-4BF9-8A95-CF983843D6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80" t="2936" r="1591" b="5885"/>
          <a:stretch/>
        </p:blipFill>
        <p:spPr>
          <a:xfrm>
            <a:off x="1336430" y="923330"/>
            <a:ext cx="9148657" cy="5328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5328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58489-7EA7-6BB3-4725-196D99F1A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AF269815-BDD1-A58D-706C-BEF1BD172C05}"/>
              </a:ext>
            </a:extLst>
          </p:cNvPr>
          <p:cNvSpPr/>
          <p:nvPr/>
        </p:nvSpPr>
        <p:spPr>
          <a:xfrm>
            <a:off x="437" y="0"/>
            <a:ext cx="9508090" cy="175432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ES" sz="5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Diagrama de componentes</a:t>
            </a:r>
          </a:p>
          <a:p>
            <a:pPr algn="ctr"/>
            <a:endParaRPr lang="es-ES" sz="5400" dirty="0">
              <a:ln w="0"/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9B8C2AF-FD77-6174-D0B9-D757E14E6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821" y="874414"/>
            <a:ext cx="4952280" cy="3182608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61BD9DC-59DC-C5BD-1998-CE84B0230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99" y="4047945"/>
            <a:ext cx="4960728" cy="2471469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C5172EA-0F77-008A-969F-66742F9E0A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7964" y="874502"/>
            <a:ext cx="5583807" cy="378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637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E827BA-1F46-1568-1835-3D0FBFDA2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ubtítulo 6">
            <a:extLst>
              <a:ext uri="{FF2B5EF4-FFF2-40B4-BE49-F238E27FC236}">
                <a16:creationId xmlns:a16="http://schemas.microsoft.com/office/drawing/2014/main" id="{35DAECC7-AD19-20F6-86FE-B978E726B3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6438" y="3167842"/>
            <a:ext cx="801858" cy="52231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 err="1">
                <a:solidFill>
                  <a:srgbClr val="000000"/>
                </a:solidFill>
              </a:rPr>
              <a:t>fisico</a:t>
            </a:r>
            <a:endParaRPr lang="en-US" kern="1200" cap="none" dirty="0">
              <a:solidFill>
                <a:srgbClr val="000000"/>
              </a:solidFill>
              <a:effectLst/>
              <a:latin typeface="+mn-lt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6B8FE40-53B4-44FC-A1CD-EF4A3526F693}"/>
              </a:ext>
            </a:extLst>
          </p:cNvPr>
          <p:cNvSpPr/>
          <p:nvPr/>
        </p:nvSpPr>
        <p:spPr>
          <a:xfrm>
            <a:off x="0" y="211015"/>
            <a:ext cx="3772186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Diagramas </a:t>
            </a:r>
            <a:br>
              <a:rPr lang="es-ES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s-ES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 base de datos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4B49644-9C02-4317-9A99-ED272913DF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196" y="0"/>
            <a:ext cx="82718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9662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E827BA-1F46-1568-1835-3D0FBFDA2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ubtítulo 6">
            <a:extLst>
              <a:ext uri="{FF2B5EF4-FFF2-40B4-BE49-F238E27FC236}">
                <a16:creationId xmlns:a16="http://schemas.microsoft.com/office/drawing/2014/main" id="{35DAECC7-AD19-20F6-86FE-B978E726B3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58" y="3240793"/>
            <a:ext cx="801858" cy="522315"/>
          </a:xfrm>
        </p:spPr>
        <p:txBody>
          <a:bodyPr vert="horz" lIns="91440" tIns="45720" rIns="91440" bIns="45720" rtlCol="0">
            <a:normAutofit fontScale="92500"/>
          </a:bodyPr>
          <a:lstStyle/>
          <a:p>
            <a:r>
              <a:rPr lang="en-US" kern="1200" cap="none" dirty="0">
                <a:solidFill>
                  <a:srgbClr val="000000"/>
                </a:solidFill>
                <a:effectLst/>
                <a:latin typeface="+mn-lt"/>
              </a:rPr>
              <a:t>logico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6B8FE40-53B4-44FC-A1CD-EF4A3526F693}"/>
              </a:ext>
            </a:extLst>
          </p:cNvPr>
          <p:cNvSpPr/>
          <p:nvPr/>
        </p:nvSpPr>
        <p:spPr>
          <a:xfrm>
            <a:off x="-66234" y="0"/>
            <a:ext cx="1947202" cy="138499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Diagramas de base de datos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9E60529-07D3-4D89-9C8C-9972E7378D4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32" b="2769"/>
          <a:stretch/>
        </p:blipFill>
        <p:spPr>
          <a:xfrm>
            <a:off x="2083190" y="429065"/>
            <a:ext cx="10108810" cy="666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4593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E827BA-1F46-1568-1835-3D0FBFDA2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ubtítulo 6">
            <a:extLst>
              <a:ext uri="{FF2B5EF4-FFF2-40B4-BE49-F238E27FC236}">
                <a16:creationId xmlns:a16="http://schemas.microsoft.com/office/drawing/2014/main" id="{35DAECC7-AD19-20F6-86FE-B978E726B3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642" y="3206528"/>
            <a:ext cx="1143586" cy="522315"/>
          </a:xfr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r>
              <a:rPr lang="en-US" dirty="0">
                <a:solidFill>
                  <a:srgbClr val="000000"/>
                </a:solidFill>
              </a:rPr>
              <a:t>conceptual</a:t>
            </a:r>
            <a:endParaRPr lang="en-US" kern="1200" cap="none" dirty="0">
              <a:solidFill>
                <a:srgbClr val="000000"/>
              </a:solidFill>
              <a:effectLst/>
              <a:latin typeface="+mn-lt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6B8FE40-53B4-44FC-A1CD-EF4A3526F693}"/>
              </a:ext>
            </a:extLst>
          </p:cNvPr>
          <p:cNvSpPr/>
          <p:nvPr/>
        </p:nvSpPr>
        <p:spPr>
          <a:xfrm>
            <a:off x="0" y="0"/>
            <a:ext cx="2082018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Diagramas de base de datos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5EB2E44-63C8-4FF5-9B8B-6F212CF3F9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999" y="38686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789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44C18-DB39-04DB-F12E-2D8D2FCFD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Presentacion</a:t>
            </a:r>
            <a:r>
              <a:rPr lang="en-US" dirty="0"/>
              <a:t> de </a:t>
            </a:r>
            <a:r>
              <a:rPr lang="en-US" dirty="0" err="1"/>
              <a:t>avance</a:t>
            </a:r>
            <a:r>
              <a:rPr lang="en-US" dirty="0"/>
              <a:t> del </a:t>
            </a:r>
            <a:r>
              <a:rPr lang="en-US" dirty="0" err="1"/>
              <a:t>proyecto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DD3BD-1E2E-1C87-2592-F369C39B2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1061" y="2743838"/>
            <a:ext cx="4799159" cy="1636786"/>
          </a:xfrm>
        </p:spPr>
        <p:txBody>
          <a:bodyPr>
            <a:normAutofit fontScale="92500"/>
          </a:bodyPr>
          <a:lstStyle/>
          <a:p>
            <a:r>
              <a:rPr lang="en-US" dirty="0"/>
              <a:t>Por zoom 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s-PE" dirty="0" err="1">
                <a:hlinkClick r:id="rId2"/>
              </a:rPr>
              <a:t>redsolidaria-production.up.railway.app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9575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1028</TotalTime>
  <Words>305</Words>
  <Application>Microsoft Office PowerPoint</Application>
  <PresentationFormat>Panorámica</PresentationFormat>
  <Paragraphs>37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Arial</vt:lpstr>
      <vt:lpstr>Garamond</vt:lpstr>
      <vt:lpstr>Times New Roman</vt:lpstr>
      <vt:lpstr>Organic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Presentacion de avance del proyecto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USER</dc:creator>
  <cp:lastModifiedBy>USER</cp:lastModifiedBy>
  <cp:revision>104</cp:revision>
  <dcterms:created xsi:type="dcterms:W3CDTF">2026-05-07T15:16:26Z</dcterms:created>
  <dcterms:modified xsi:type="dcterms:W3CDTF">2026-06-09T13:27:02Z</dcterms:modified>
</cp:coreProperties>
</file>